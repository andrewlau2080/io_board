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_rels/slide11.xml.rels><?xml version="1.0" encoding="UTF-8" standalone="yes"?>
<Relationships xmlns="http://schemas.openxmlformats.org/package/2006/relationships"/>
</file>

<file path=ppt/slides/_rels/slide12.xml.rels><?xml version="1.0" encoding="UTF-8" standalone="yes"?>
<Relationships xmlns="http://schemas.openxmlformats.org/package/2006/relationships"/>
</file>

<file path=ppt/slides/_rels/slide13.xml.rels><?xml version="1.0" encoding="UTF-8" standalone="yes"?>
<Relationships xmlns="http://schemas.openxmlformats.org/package/2006/relationships"/>
</file>

<file path=ppt/slides/_rels/slide14.xml.rels><?xml version="1.0" encoding="UTF-8" standalone="yes"?>
<Relationships xmlns="http://schemas.openxmlformats.org/package/2006/relationships"/>
</file>

<file path=ppt/slides/_rels/slide15.xml.rels><?xml version="1.0" encoding="UTF-8" standalone="yes"?>
<Relationships xmlns="http://schemas.openxmlformats.org/package/2006/relationships"/>
</file>

<file path=ppt/slides/_rels/slide16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WiFi / MAS 组网架构说明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用于设计评审、演示和后续跟踪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85800" y="155448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800" b="1">
                <a:solidFill>
                  <a:srgbClr val="0F172A"/>
                </a:solidFill>
                <a:latin typeface="Arial"/>
                <a:ea typeface="Microsoft YaHei"/>
              </a:rPr>
              <a:t>每条拉本地闭环生产，MAS 负责上级管理和统计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13232" y="251460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000" b="0">
                <a:solidFill>
                  <a:srgbClr val="334155"/>
                </a:solidFill>
                <a:latin typeface="Arial"/>
                <a:ea typeface="Microsoft YaHei"/>
              </a:rPr>
              <a:t>先固定组网与互联框架</a:t>
            </a:r>
            <a:br/>
            <a:r>
              <a:rPr lang="zh-CN" sz="2000" b="0">
                <a:solidFill>
                  <a:srgbClr val="334155"/>
                </a:solidFill>
                <a:latin typeface="Arial"/>
                <a:ea typeface="Microsoft YaHei"/>
              </a:rPr>
              <a:t>每条拉配置微型/工业 AP</a:t>
            </a:r>
            <a:br/>
            <a:r>
              <a:rPr lang="zh-CN" sz="2000" b="0">
                <a:solidFill>
                  <a:srgbClr val="334155"/>
                </a:solidFill>
                <a:latin typeface="Arial"/>
                <a:ea typeface="Microsoft YaHei"/>
              </a:rPr>
              <a:t>WiFi 模块型号后续再选</a:t>
            </a:r>
          </a:p>
        </p:txBody>
      </p:sp>
      <p:sp>
        <p:nvSpPr>
          <p:cNvPr id="6" name="shape6"/>
          <p:cNvSpPr/>
          <p:nvPr/>
        </p:nvSpPr>
        <p:spPr>
          <a:xfrm>
            <a:off x="7498079" y="1325880"/>
            <a:ext cx="356616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zh-CN" sz="1800" b="1">
                <a:solidFill>
                  <a:srgbClr val="1E3A8A"/>
                </a:solidFill>
                <a:latin typeface="Arial"/>
                <a:ea typeface="Microsoft YaHei"/>
              </a:rPr>
              <a:t>车间十几条拉</a:t>
            </a:r>
          </a:p>
        </p:txBody>
      </p:sp>
      <p:sp>
        <p:nvSpPr>
          <p:cNvPr id="7" name="shape7"/>
          <p:cNvSpPr/>
          <p:nvPr/>
        </p:nvSpPr>
        <p:spPr>
          <a:xfrm>
            <a:off x="7498079" y="2240280"/>
            <a:ext cx="356616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anchor="mid"/>
          <a:lstStyle/>
          <a:p>
            <a:pPr algn="ctr"/>
            <a:r>
              <a:rPr lang="zh-CN" sz="1800" b="1">
                <a:solidFill>
                  <a:srgbClr val="166534"/>
                </a:solidFill>
                <a:latin typeface="Arial"/>
                <a:ea typeface="Microsoft YaHei"/>
              </a:rPr>
              <a:t>每条拉约 10 台测试机</a:t>
            </a:r>
          </a:p>
        </p:txBody>
      </p:sp>
      <p:sp>
        <p:nvSpPr>
          <p:cNvPr id="8" name="shape8"/>
          <p:cNvSpPr/>
          <p:nvPr/>
        </p:nvSpPr>
        <p:spPr>
          <a:xfrm>
            <a:off x="7498079" y="3154680"/>
            <a:ext cx="356616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zh-CN" sz="1800" b="1">
                <a:solidFill>
                  <a:srgbClr val="92400E"/>
                </a:solidFill>
                <a:latin typeface="Arial"/>
                <a:ea typeface="Microsoft YaHei"/>
              </a:rPr>
              <a:t>每条拉 1 台 AP + 打印主机</a:t>
            </a:r>
          </a:p>
        </p:txBody>
      </p:sp>
      <p:sp>
        <p:nvSpPr>
          <p:cNvPr id="9" name="shape9"/>
          <p:cNvSpPr/>
          <p:nvPr/>
        </p:nvSpPr>
        <p:spPr>
          <a:xfrm>
            <a:off x="7498079" y="4069080"/>
            <a:ext cx="3566160" cy="6858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472B6"/>
            </a:solidFill>
          </a:ln>
        </p:spPr>
        <p:txBody>
          <a:bodyPr wrap="square" anchor="mid"/>
          <a:lstStyle/>
          <a:p>
            <a:pPr algn="ctr"/>
            <a:r>
              <a:rPr lang="zh-CN" sz="1800" b="1">
                <a:solidFill>
                  <a:srgbClr val="9D174D"/>
                </a:solidFill>
                <a:latin typeface="Arial"/>
                <a:ea typeface="Microsoft YaHei"/>
              </a:rPr>
              <a:t>MAS 断线仍可本线打印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MAS 在系统中的角色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MAS 负责上级管理和统计，不是本线打印的前置条件</a:t>
            </a:r>
          </a:p>
        </p:txBody>
      </p:sp>
      <p:sp>
        <p:nvSpPr>
          <p:cNvPr id="4" name="shape4"/>
          <p:cNvSpPr/>
          <p:nvPr/>
        </p:nvSpPr>
        <p:spPr>
          <a:xfrm>
            <a:off x="548640" y="1143000"/>
            <a:ext cx="33375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为什么需要 MAS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1527048"/>
            <a:ext cx="33375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统一监控所有测试机和打印机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集中保存测试、打印、报警记录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支持电脑、手机、手持机查看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为后续数据分析提供完整资料</a:t>
            </a:r>
          </a:p>
        </p:txBody>
      </p:sp>
      <p:sp>
        <p:nvSpPr>
          <p:cNvPr id="8" name="shape8"/>
          <p:cNvSpPr/>
          <p:nvPr/>
        </p:nvSpPr>
        <p:spPr>
          <a:xfrm>
            <a:off x="4434840" y="1143000"/>
            <a:ext cx="33375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不能直接互连</a:t>
            </a:r>
          </a:p>
        </p:txBody>
      </p:sp>
      <p:sp>
        <p:nvSpPr>
          <p:cNvPr id="9" name="shape9"/>
          <p:cNvSpPr/>
          <p:nvPr/>
        </p:nvSpPr>
        <p:spPr>
          <a:xfrm>
            <a:off x="4434840" y="1527048"/>
            <a:ext cx="33375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多台测试机抢同一台打印机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跨线统计和追溯困难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换机、换打印机管理复杂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APP 无法稳定同时监控多条线</a:t>
            </a:r>
          </a:p>
        </p:txBody>
      </p:sp>
      <p:sp>
        <p:nvSpPr>
          <p:cNvPr id="12" name="shape12"/>
          <p:cNvSpPr/>
          <p:nvPr/>
        </p:nvSpPr>
        <p:spPr>
          <a:xfrm>
            <a:off x="8321040" y="1143000"/>
            <a:ext cx="33375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MAS 的定位</a:t>
            </a:r>
          </a:p>
        </p:txBody>
      </p:sp>
      <p:sp>
        <p:nvSpPr>
          <p:cNvPr id="13" name="shape13"/>
          <p:cNvSpPr/>
          <p:nvPr/>
        </p:nvSpPr>
        <p:spPr>
          <a:xfrm>
            <a:off x="8321040" y="1527048"/>
            <a:ext cx="33375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监控中心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统计中心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资料版本中心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历史追溯中心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车间网络拓扑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每条拉有本地 AP 和打印主机，MAS 断线不影响本线打印</a:t>
            </a:r>
          </a:p>
        </p:txBody>
      </p:sp>
      <p:sp>
        <p:nvSpPr>
          <p:cNvPr id="4" name="shape4"/>
          <p:cNvSpPr/>
          <p:nvPr/>
        </p:nvSpPr>
        <p:spPr>
          <a:xfrm>
            <a:off x="3977639" y="1051560"/>
            <a:ext cx="420624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075985"/>
                </a:solidFill>
                <a:latin typeface="Arial"/>
                <a:ea typeface="Microsoft YaHei"/>
              </a:rPr>
              <a:t>MAS / Monitor / Statistics Server</a:t>
            </a:r>
          </a:p>
        </p:txBody>
      </p:sp>
      <p:sp>
        <p:nvSpPr>
          <p:cNvPr id="5" name="shape5"/>
          <p:cNvSpPr/>
          <p:nvPr/>
        </p:nvSpPr>
        <p:spPr>
          <a:xfrm>
            <a:off x="4251960" y="2011680"/>
            <a:ext cx="3657600" cy="5029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Factory Ethernet / VLAN / Uplink</a:t>
            </a:r>
          </a:p>
        </p:txBody>
      </p:sp>
      <p:cxnSp>
        <p:nvCxnSpPr>
          <p:cNvPr id="6" name="arrow6"/>
          <p:cNvCxnSpPr/>
          <p:nvPr/>
        </p:nvCxnSpPr>
        <p:spPr>
          <a:xfrm flipV="1">
            <a:off x="6080760" y="1645920"/>
            <a:ext cx="9144" cy="365760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7"/>
          <p:cNvSpPr/>
          <p:nvPr/>
        </p:nvSpPr>
        <p:spPr>
          <a:xfrm>
            <a:off x="685800" y="2971800"/>
            <a:ext cx="329184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Line 01 微型/工业 AP</a:t>
            </a:r>
          </a:p>
        </p:txBody>
      </p:sp>
      <p:sp>
        <p:nvSpPr>
          <p:cNvPr id="8" name="shape8"/>
          <p:cNvSpPr/>
          <p:nvPr/>
        </p:nvSpPr>
        <p:spPr>
          <a:xfrm>
            <a:off x="4434840" y="2971800"/>
            <a:ext cx="329184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Line 02 微型/工业 AP</a:t>
            </a:r>
          </a:p>
        </p:txBody>
      </p:sp>
      <p:sp>
        <p:nvSpPr>
          <p:cNvPr id="9" name="shape9"/>
          <p:cNvSpPr/>
          <p:nvPr/>
        </p:nvSpPr>
        <p:spPr>
          <a:xfrm>
            <a:off x="8183879" y="2971800"/>
            <a:ext cx="329184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Line NN 微型/工业 AP</a:t>
            </a:r>
          </a:p>
        </p:txBody>
      </p:sp>
      <p:cxnSp>
        <p:nvCxnSpPr>
          <p:cNvPr id="10" name="arrow10"/>
          <p:cNvCxnSpPr/>
          <p:nvPr/>
        </p:nvCxnSpPr>
        <p:spPr>
          <a:xfrm flipH="1">
            <a:off x="2331720" y="2514600"/>
            <a:ext cx="3749040" cy="45720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ow11"/>
          <p:cNvCxnSpPr/>
          <p:nvPr/>
        </p:nvCxnSpPr>
        <p:spPr>
          <a:xfrm>
            <a:off x="6080760" y="2514600"/>
            <a:ext cx="9144" cy="45720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rrow12"/>
          <p:cNvCxnSpPr/>
          <p:nvPr/>
        </p:nvCxnSpPr>
        <p:spPr>
          <a:xfrm>
            <a:off x="6080760" y="2514600"/>
            <a:ext cx="3749039" cy="45720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13"/>
          <p:cNvSpPr/>
          <p:nvPr/>
        </p:nvSpPr>
        <p:spPr>
          <a:xfrm>
            <a:off x="502920" y="388620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ST01 ... ST10 WiFi Station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AT32 Print Host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Printer</a:t>
            </a:r>
          </a:p>
        </p:txBody>
      </p:sp>
      <p:sp>
        <p:nvSpPr>
          <p:cNvPr id="14" name="shape14"/>
          <p:cNvSpPr/>
          <p:nvPr/>
        </p:nvSpPr>
        <p:spPr>
          <a:xfrm>
            <a:off x="4251960" y="388620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ST01 ... ST10 WiFi Station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AT32 Print Host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Printer</a:t>
            </a:r>
          </a:p>
        </p:txBody>
      </p:sp>
      <p:sp>
        <p:nvSpPr>
          <p:cNvPr id="15" name="shape15"/>
          <p:cNvSpPr/>
          <p:nvPr/>
        </p:nvSpPr>
        <p:spPr>
          <a:xfrm>
            <a:off x="8001000" y="388620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ST01 ... ST10 WiFi Station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AT32 Print Host</a:t>
            </a:r>
            <a:br/>
            <a:r>
              <a:rPr lang="zh-CN" sz="1300" b="0">
                <a:solidFill>
                  <a:srgbClr val="111827"/>
                </a:solidFill>
                <a:latin typeface="Arial"/>
                <a:ea typeface="Microsoft YaHei"/>
              </a:rPr>
              <a:t>Printer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640080" y="571500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600" b="1">
                <a:solidFill>
                  <a:srgbClr val="334155"/>
                </a:solidFill>
                <a:latin typeface="Arial"/>
                <a:ea typeface="Microsoft YaHei"/>
              </a:rPr>
              <a:t>正式方案：每条拉 1 个独立微型/工业 AP；AP 只提供网络，生产逻辑由本线 AT32 打印主机完成。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系统分层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上层业务协议不绑定 WiFi 模块，模块以后可替换</a:t>
            </a:r>
          </a:p>
        </p:txBody>
      </p:sp>
      <p:sp>
        <p:nvSpPr>
          <p:cNvPr id="4" name="shape4"/>
          <p:cNvSpPr/>
          <p:nvPr/>
        </p:nvSpPr>
        <p:spPr>
          <a:xfrm>
            <a:off x="502920" y="1234440"/>
            <a:ext cx="224028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66534"/>
                </a:solidFill>
                <a:latin typeface="Arial"/>
                <a:ea typeface="Microsoft YaHei"/>
              </a:rPr>
              <a:t>设备层
测试机 + WiFi</a:t>
            </a:r>
          </a:p>
        </p:txBody>
      </p:sp>
      <p:sp>
        <p:nvSpPr>
          <p:cNvPr id="5" name="shape5"/>
          <p:cNvSpPr/>
          <p:nvPr/>
        </p:nvSpPr>
        <p:spPr>
          <a:xfrm>
            <a:off x="2971800" y="1234440"/>
            <a:ext cx="224028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92400E"/>
                </a:solidFill>
                <a:latin typeface="Arial"/>
                <a:ea typeface="Microsoft YaHei"/>
              </a:rPr>
              <a:t>线体层
AP + 打印主机</a:t>
            </a:r>
          </a:p>
        </p:txBody>
      </p:sp>
      <p:sp>
        <p:nvSpPr>
          <p:cNvPr id="6" name="shape6"/>
          <p:cNvSpPr/>
          <p:nvPr/>
        </p:nvSpPr>
        <p:spPr>
          <a:xfrm>
            <a:off x="5440680" y="1234440"/>
            <a:ext cx="2240280" cy="7772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车间层
VLAN / Uplink</a:t>
            </a:r>
          </a:p>
        </p:txBody>
      </p:sp>
      <p:sp>
        <p:nvSpPr>
          <p:cNvPr id="7" name="shape7"/>
          <p:cNvSpPr/>
          <p:nvPr/>
        </p:nvSpPr>
        <p:spPr>
          <a:xfrm>
            <a:off x="7909560" y="1234440"/>
            <a:ext cx="224028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E3A8A"/>
                </a:solidFill>
                <a:latin typeface="Arial"/>
                <a:ea typeface="Microsoft YaHei"/>
              </a:rPr>
              <a:t>MAS 层
监控/统计/DB</a:t>
            </a:r>
          </a:p>
        </p:txBody>
      </p:sp>
      <p:sp>
        <p:nvSpPr>
          <p:cNvPr id="8" name="shape8"/>
          <p:cNvSpPr/>
          <p:nvPr/>
        </p:nvSpPr>
        <p:spPr>
          <a:xfrm>
            <a:off x="10241280" y="1234440"/>
            <a:ext cx="1508760" cy="7772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EC4899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9D174D"/>
                </a:solidFill>
                <a:latin typeface="Arial"/>
                <a:ea typeface="Microsoft YaHei"/>
              </a:rPr>
              <a:t>客户端
APP/电脑</a:t>
            </a:r>
          </a:p>
        </p:txBody>
      </p:sp>
      <p:cxnSp>
        <p:nvCxnSpPr>
          <p:cNvPr id="9" name="arrow9"/>
          <p:cNvCxnSpPr/>
          <p:nvPr/>
        </p:nvCxnSpPr>
        <p:spPr>
          <a:xfrm>
            <a:off x="2743200" y="1627632"/>
            <a:ext cx="2286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10"/>
          <p:cNvCxnSpPr/>
          <p:nvPr/>
        </p:nvCxnSpPr>
        <p:spPr>
          <a:xfrm>
            <a:off x="5212080" y="1627632"/>
            <a:ext cx="2286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ow11"/>
          <p:cNvCxnSpPr/>
          <p:nvPr/>
        </p:nvCxnSpPr>
        <p:spPr>
          <a:xfrm>
            <a:off x="7680960" y="1627632"/>
            <a:ext cx="2286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rrow12"/>
          <p:cNvCxnSpPr/>
          <p:nvPr/>
        </p:nvCxnSpPr>
        <p:spPr>
          <a:xfrm>
            <a:off x="10149840" y="1627632"/>
            <a:ext cx="914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20"/>
          <p:cNvSpPr/>
          <p:nvPr/>
        </p:nvSpPr>
        <p:spPr>
          <a:xfrm>
            <a:off x="502920" y="2743200"/>
            <a:ext cx="22402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测试机</a:t>
            </a:r>
          </a:p>
        </p:txBody>
      </p:sp>
      <p:sp>
        <p:nvSpPr>
          <p:cNvPr id="21" name="shape21"/>
          <p:cNvSpPr/>
          <p:nvPr/>
        </p:nvSpPr>
        <p:spPr>
          <a:xfrm>
            <a:off x="502920" y="3127248"/>
            <a:ext cx="22402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本地扫描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PASS/NG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故障点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上传事件</a:t>
            </a:r>
          </a:p>
        </p:txBody>
      </p:sp>
      <p:sp>
        <p:nvSpPr>
          <p:cNvPr id="24" name="shape24"/>
          <p:cNvSpPr/>
          <p:nvPr/>
        </p:nvSpPr>
        <p:spPr>
          <a:xfrm>
            <a:off x="2971800" y="2743200"/>
            <a:ext cx="22402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AT32 打印主机</a:t>
            </a:r>
          </a:p>
        </p:txBody>
      </p:sp>
      <p:sp>
        <p:nvSpPr>
          <p:cNvPr id="25" name="shape25"/>
          <p:cNvSpPr/>
          <p:nvPr/>
        </p:nvSpPr>
        <p:spPr>
          <a:xfrm>
            <a:off x="2971800" y="3127248"/>
            <a:ext cx="22402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本线主控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打印队列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本地缓存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继续打印</a:t>
            </a:r>
          </a:p>
        </p:txBody>
      </p:sp>
      <p:sp>
        <p:nvSpPr>
          <p:cNvPr id="28" name="shape28"/>
          <p:cNvSpPr/>
          <p:nvPr/>
        </p:nvSpPr>
        <p:spPr>
          <a:xfrm>
            <a:off x="5440680" y="2743200"/>
            <a:ext cx="224028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网络</a:t>
            </a:r>
          </a:p>
        </p:txBody>
      </p:sp>
      <p:sp>
        <p:nvSpPr>
          <p:cNvPr id="29" name="shape29"/>
          <p:cNvSpPr/>
          <p:nvPr/>
        </p:nvSpPr>
        <p:spPr>
          <a:xfrm>
            <a:off x="5440680" y="3127248"/>
            <a:ext cx="22402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VLAN 隔离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MAS 同步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NTP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远程维护</a:t>
            </a:r>
          </a:p>
        </p:txBody>
      </p:sp>
      <p:sp>
        <p:nvSpPr>
          <p:cNvPr id="32" name="shape32"/>
          <p:cNvSpPr/>
          <p:nvPr/>
        </p:nvSpPr>
        <p:spPr>
          <a:xfrm>
            <a:off x="7909560" y="2743200"/>
            <a:ext cx="22402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MAS</a:t>
            </a:r>
          </a:p>
        </p:txBody>
      </p:sp>
      <p:sp>
        <p:nvSpPr>
          <p:cNvPr id="33" name="shape33"/>
          <p:cNvSpPr/>
          <p:nvPr/>
        </p:nvSpPr>
        <p:spPr>
          <a:xfrm>
            <a:off x="7909560" y="3127248"/>
            <a:ext cx="22402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全车间监控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历史记录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统计报表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资料管理</a:t>
            </a:r>
          </a:p>
        </p:txBody>
      </p:sp>
      <p:sp>
        <p:nvSpPr>
          <p:cNvPr id="36" name="shape36"/>
          <p:cNvSpPr/>
          <p:nvPr/>
        </p:nvSpPr>
        <p:spPr>
          <a:xfrm>
            <a:off x="10241280" y="2743200"/>
            <a:ext cx="150876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客户端</a:t>
            </a:r>
          </a:p>
        </p:txBody>
      </p:sp>
      <p:sp>
        <p:nvSpPr>
          <p:cNvPr id="37" name="shape37"/>
          <p:cNvSpPr/>
          <p:nvPr/>
        </p:nvSpPr>
        <p:spPr>
          <a:xfrm>
            <a:off x="10241280" y="3127248"/>
            <a:ext cx="15087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查看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报警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统计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追溯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正常测试与打印流程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打印关键路径在本线闭环内完成，MAS 只接收同步和做统计</a:t>
            </a:r>
          </a:p>
        </p:txBody>
      </p:sp>
      <p:sp>
        <p:nvSpPr>
          <p:cNvPr id="10" name="shape10"/>
          <p:cNvSpPr/>
          <p:nvPr/>
        </p:nvSpPr>
        <p:spPr>
          <a:xfrm>
            <a:off x="594360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测试机 -&gt; 本线主机
heartbeat</a:t>
            </a:r>
          </a:p>
        </p:txBody>
      </p:sp>
      <p:cxnSp>
        <p:nvCxnSpPr>
          <p:cNvPr id="30" name="arrow30"/>
          <p:cNvCxnSpPr/>
          <p:nvPr/>
        </p:nvCxnSpPr>
        <p:spPr>
          <a:xfrm>
            <a:off x="2011680" y="2423160"/>
            <a:ext cx="45719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11"/>
          <p:cNvSpPr/>
          <p:nvPr/>
        </p:nvSpPr>
        <p:spPr>
          <a:xfrm>
            <a:off x="2468879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本地扫描
PASS/NG</a:t>
            </a:r>
          </a:p>
        </p:txBody>
      </p:sp>
      <p:cxnSp>
        <p:nvCxnSpPr>
          <p:cNvPr id="31" name="arrow31"/>
          <p:cNvCxnSpPr/>
          <p:nvPr/>
        </p:nvCxnSpPr>
        <p:spPr>
          <a:xfrm>
            <a:off x="3886200" y="2423160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12"/>
          <p:cNvSpPr/>
          <p:nvPr/>
        </p:nvSpPr>
        <p:spPr>
          <a:xfrm>
            <a:off x="4343400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结果到打印主机
缓存/可同步 MAS</a:t>
            </a:r>
          </a:p>
        </p:txBody>
      </p:sp>
      <p:cxnSp>
        <p:nvCxnSpPr>
          <p:cNvPr id="32" name="arrow32"/>
          <p:cNvCxnSpPr/>
          <p:nvPr/>
        </p:nvCxnSpPr>
        <p:spPr>
          <a:xfrm>
            <a:off x="5760720" y="2423160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13"/>
          <p:cNvSpPr/>
          <p:nvPr/>
        </p:nvSpPr>
        <p:spPr>
          <a:xfrm>
            <a:off x="6217920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PB8 触发
打印请求</a:t>
            </a:r>
          </a:p>
        </p:txBody>
      </p:sp>
      <p:cxnSp>
        <p:nvCxnSpPr>
          <p:cNvPr id="33" name="arrow33"/>
          <p:cNvCxnSpPr/>
          <p:nvPr/>
        </p:nvCxnSpPr>
        <p:spPr>
          <a:xfrm>
            <a:off x="7635240" y="2423160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14"/>
          <p:cNvSpPr/>
          <p:nvPr/>
        </p:nvSpPr>
        <p:spPr>
          <a:xfrm>
            <a:off x="8092440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打印主机
排队打印</a:t>
            </a:r>
          </a:p>
        </p:txBody>
      </p:sp>
      <p:cxnSp>
        <p:nvCxnSpPr>
          <p:cNvPr id="34" name="arrow34"/>
          <p:cNvCxnSpPr/>
          <p:nvPr/>
        </p:nvCxnSpPr>
        <p:spPr>
          <a:xfrm>
            <a:off x="9509760" y="2423160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15"/>
          <p:cNvSpPr/>
          <p:nvPr/>
        </p:nvSpPr>
        <p:spPr>
          <a:xfrm>
            <a:off x="9966960" y="2011680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E3A8A"/>
                </a:solidFill>
                <a:latin typeface="Arial"/>
                <a:ea typeface="Microsoft YaHei"/>
              </a:rPr>
              <a:t>打印状态
DONE/ERROR</a:t>
            </a:r>
          </a:p>
        </p:txBody>
      </p:sp>
      <p:sp>
        <p:nvSpPr>
          <p:cNvPr id="50" name="shape50"/>
          <p:cNvSpPr/>
          <p:nvPr/>
        </p:nvSpPr>
        <p:spPr>
          <a:xfrm>
            <a:off x="822960" y="3886200"/>
            <a:ext cx="31089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测试机</a:t>
            </a:r>
          </a:p>
        </p:txBody>
      </p:sp>
      <p:sp>
        <p:nvSpPr>
          <p:cNvPr id="51" name="shape51"/>
          <p:cNvSpPr/>
          <p:nvPr/>
        </p:nvSpPr>
        <p:spPr>
          <a:xfrm>
            <a:off x="822960" y="4270248"/>
            <a:ext cx="310896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不直接控制打印机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发给本线打印主机</a:t>
            </a:r>
          </a:p>
        </p:txBody>
      </p:sp>
      <p:sp>
        <p:nvSpPr>
          <p:cNvPr id="54" name="shape54"/>
          <p:cNvSpPr/>
          <p:nvPr/>
        </p:nvSpPr>
        <p:spPr>
          <a:xfrm>
            <a:off x="4526280" y="3886200"/>
            <a:ext cx="3108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打印主机</a:t>
            </a:r>
          </a:p>
        </p:txBody>
      </p:sp>
      <p:sp>
        <p:nvSpPr>
          <p:cNvPr id="55" name="shape55"/>
          <p:cNvSpPr/>
          <p:nvPr/>
        </p:nvSpPr>
        <p:spPr>
          <a:xfrm>
            <a:off x="4526280" y="4270248"/>
            <a:ext cx="310896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本线队列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驱动打印机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缓存结果</a:t>
            </a:r>
          </a:p>
        </p:txBody>
      </p:sp>
      <p:sp>
        <p:nvSpPr>
          <p:cNvPr id="58" name="shape58"/>
          <p:cNvSpPr/>
          <p:nvPr/>
        </p:nvSpPr>
        <p:spPr>
          <a:xfrm>
            <a:off x="8229600" y="3886200"/>
            <a:ext cx="3108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MAS</a:t>
            </a:r>
          </a:p>
        </p:txBody>
      </p:sp>
      <p:sp>
        <p:nvSpPr>
          <p:cNvPr id="59" name="shape59"/>
          <p:cNvSpPr/>
          <p:nvPr/>
        </p:nvSpPr>
        <p:spPr>
          <a:xfrm>
            <a:off x="8229600" y="4270248"/>
            <a:ext cx="310896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接收同步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统计报表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刷新电脑/APP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MAS 断线时仍可生产打印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MAS 不是打印前置条件；本线打印主机是 AT32 打印主机</a:t>
            </a:r>
          </a:p>
        </p:txBody>
      </p:sp>
      <p:sp>
        <p:nvSpPr>
          <p:cNvPr id="4" name="shape4"/>
          <p:cNvSpPr/>
          <p:nvPr/>
        </p:nvSpPr>
        <p:spPr>
          <a:xfrm>
            <a:off x="594360" y="1234440"/>
            <a:ext cx="219456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测试机 ST01-ST10</a:t>
            </a:r>
          </a:p>
        </p:txBody>
      </p:sp>
      <p:cxnSp>
        <p:nvCxnSpPr>
          <p:cNvPr id="5" name="arrow5"/>
          <p:cNvCxnSpPr/>
          <p:nvPr/>
        </p:nvCxnSpPr>
        <p:spPr>
          <a:xfrm>
            <a:off x="2788920" y="1572768"/>
            <a:ext cx="59436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6"/>
          <p:cNvSpPr/>
          <p:nvPr/>
        </p:nvSpPr>
        <p:spPr>
          <a:xfrm>
            <a:off x="3383280" y="1234440"/>
            <a:ext cx="224028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本线 AP</a:t>
            </a:r>
          </a:p>
        </p:txBody>
      </p:sp>
      <p:cxnSp>
        <p:nvCxnSpPr>
          <p:cNvPr id="7" name="arrow7"/>
          <p:cNvCxnSpPr/>
          <p:nvPr/>
        </p:nvCxnSpPr>
        <p:spPr>
          <a:xfrm>
            <a:off x="5623560" y="1572768"/>
            <a:ext cx="59435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8"/>
          <p:cNvSpPr/>
          <p:nvPr/>
        </p:nvSpPr>
        <p:spPr>
          <a:xfrm>
            <a:off x="6217920" y="1234440"/>
            <a:ext cx="242316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打印主机
本地队列/缓存</a:t>
            </a:r>
          </a:p>
        </p:txBody>
      </p:sp>
      <p:cxnSp>
        <p:nvCxnSpPr>
          <p:cNvPr id="9" name="arrow9"/>
          <p:cNvCxnSpPr/>
          <p:nvPr/>
        </p:nvCxnSpPr>
        <p:spPr>
          <a:xfrm>
            <a:off x="8641080" y="1572768"/>
            <a:ext cx="59436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10"/>
          <p:cNvSpPr/>
          <p:nvPr/>
        </p:nvSpPr>
        <p:spPr>
          <a:xfrm>
            <a:off x="9235440" y="1234440"/>
            <a:ext cx="1920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打印机</a:t>
            </a:r>
          </a:p>
        </p:txBody>
      </p:sp>
      <p:sp>
        <p:nvSpPr>
          <p:cNvPr id="11" name="shape11"/>
          <p:cNvSpPr/>
          <p:nvPr/>
        </p:nvSpPr>
        <p:spPr>
          <a:xfrm>
            <a:off x="6217920" y="2788920"/>
            <a:ext cx="242316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MAS 离线
不影响打印</a:t>
            </a:r>
          </a:p>
        </p:txBody>
      </p:sp>
      <p:cxnSp>
        <p:nvCxnSpPr>
          <p:cNvPr id="12" name="arrow12"/>
          <p:cNvCxnSpPr/>
          <p:nvPr/>
        </p:nvCxnSpPr>
        <p:spPr>
          <a:xfrm>
            <a:off x="7424927" y="1920240"/>
            <a:ext cx="9144" cy="868679"/>
          </a:xfrm>
          <a:prstGeom prst="line">
            <a:avLst/>
          </a:prstGeom>
          <a:ln w="25400">
            <a:solidFill>
              <a:srgbClr val="EF44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20"/>
          <p:cNvSpPr/>
          <p:nvPr/>
        </p:nvSpPr>
        <p:spPr>
          <a:xfrm>
            <a:off x="868680" y="4069080"/>
            <a:ext cx="29260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MAS 断线</a:t>
            </a:r>
          </a:p>
        </p:txBody>
      </p:sp>
      <p:sp>
        <p:nvSpPr>
          <p:cNvPr id="21" name="shape21"/>
          <p:cNvSpPr/>
          <p:nvPr/>
        </p:nvSpPr>
        <p:spPr>
          <a:xfrm>
            <a:off x="868680" y="4453128"/>
            <a:ext cx="292608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本线 AP 仍工作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打印主机继续接收请求</a:t>
            </a:r>
          </a:p>
        </p:txBody>
      </p:sp>
      <p:sp>
        <p:nvSpPr>
          <p:cNvPr id="24" name="shape24"/>
          <p:cNvSpPr/>
          <p:nvPr/>
        </p:nvSpPr>
        <p:spPr>
          <a:xfrm>
            <a:off x="4526280" y="4069080"/>
            <a:ext cx="29260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缓存位置</a:t>
            </a:r>
          </a:p>
        </p:txBody>
      </p:sp>
      <p:sp>
        <p:nvSpPr>
          <p:cNvPr id="25" name="shape25"/>
          <p:cNvSpPr/>
          <p:nvPr/>
        </p:nvSpPr>
        <p:spPr>
          <a:xfrm>
            <a:off x="4526280" y="4453128"/>
            <a:ext cx="292608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主要存在 AT32 打印主机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测试机只做短缓存</a:t>
            </a:r>
          </a:p>
        </p:txBody>
      </p:sp>
      <p:sp>
        <p:nvSpPr>
          <p:cNvPr id="28" name="shape28"/>
          <p:cNvSpPr/>
          <p:nvPr/>
        </p:nvSpPr>
        <p:spPr>
          <a:xfrm>
            <a:off x="8183879" y="4069080"/>
            <a:ext cx="29260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恢复后</a:t>
            </a:r>
          </a:p>
        </p:txBody>
      </p:sp>
      <p:sp>
        <p:nvSpPr>
          <p:cNvPr id="29" name="shape29"/>
          <p:cNvSpPr/>
          <p:nvPr/>
        </p:nvSpPr>
        <p:spPr>
          <a:xfrm>
            <a:off x="8183879" y="4453128"/>
            <a:ext cx="292608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打印主机按 event_id 补传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MAS 去重并生成统计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对码与换机流程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打印主机本地完成换机；MAS 在线即同步，离线后补传</a:t>
            </a:r>
          </a:p>
        </p:txBody>
      </p:sp>
      <p:sp>
        <p:nvSpPr>
          <p:cNvPr id="4" name="shape4"/>
          <p:cNvSpPr/>
          <p:nvPr/>
        </p:nvSpPr>
        <p:spPr>
          <a:xfrm>
            <a:off x="685800" y="132588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K1+K4
进入对码</a:t>
            </a:r>
          </a:p>
        </p:txBody>
      </p:sp>
      <p:cxnSp>
        <p:nvCxnSpPr>
          <p:cNvPr id="5" name="arrow5"/>
          <p:cNvCxnSpPr/>
          <p:nvPr/>
        </p:nvCxnSpPr>
        <p:spPr>
          <a:xfrm>
            <a:off x="2697480" y="169164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6"/>
          <p:cNvSpPr/>
          <p:nvPr/>
        </p:nvSpPr>
        <p:spPr>
          <a:xfrm>
            <a:off x="3246120" y="132588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PAIR_REQ
UID/短码</a:t>
            </a:r>
          </a:p>
        </p:txBody>
      </p:sp>
      <p:cxnSp>
        <p:nvCxnSpPr>
          <p:cNvPr id="7" name="arrow7"/>
          <p:cNvCxnSpPr/>
          <p:nvPr/>
        </p:nvCxnSpPr>
        <p:spPr>
          <a:xfrm>
            <a:off x="5257800" y="169164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8"/>
          <p:cNvSpPr/>
          <p:nvPr/>
        </p:nvSpPr>
        <p:spPr>
          <a:xfrm>
            <a:off x="5806440" y="132588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LCDM 选择
绑定/替换</a:t>
            </a:r>
          </a:p>
        </p:txBody>
      </p:sp>
      <p:cxnSp>
        <p:nvCxnSpPr>
          <p:cNvPr id="9" name="arrow9"/>
          <p:cNvCxnSpPr/>
          <p:nvPr/>
        </p:nvCxnSpPr>
        <p:spPr>
          <a:xfrm>
            <a:off x="7818120" y="169164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10"/>
          <p:cNvSpPr/>
          <p:nvPr/>
        </p:nvSpPr>
        <p:spPr>
          <a:xfrm>
            <a:off x="8366760" y="13258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PAIR_ASSIGN
Line/Station/Profile</a:t>
            </a:r>
          </a:p>
        </p:txBody>
      </p:sp>
      <p:cxnSp>
        <p:nvCxnSpPr>
          <p:cNvPr id="11" name="arrow11"/>
          <p:cNvCxnSpPr/>
          <p:nvPr/>
        </p:nvCxnSpPr>
        <p:spPr>
          <a:xfrm>
            <a:off x="9601200" y="2057400"/>
            <a:ext cx="9144" cy="68580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12"/>
          <p:cNvSpPr/>
          <p:nvPr/>
        </p:nvSpPr>
        <p:spPr>
          <a:xfrm>
            <a:off x="8366760" y="274320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PAIR_ACK
保存成功</a:t>
            </a:r>
          </a:p>
        </p:txBody>
      </p:sp>
      <p:sp>
        <p:nvSpPr>
          <p:cNvPr id="20" name="shape20"/>
          <p:cNvSpPr/>
          <p:nvPr/>
        </p:nvSpPr>
        <p:spPr>
          <a:xfrm>
            <a:off x="777240" y="4160520"/>
            <a:ext cx="310896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换机原则</a:t>
            </a:r>
          </a:p>
        </p:txBody>
      </p:sp>
      <p:sp>
        <p:nvSpPr>
          <p:cNvPr id="21" name="shape21"/>
          <p:cNvSpPr/>
          <p:nvPr/>
        </p:nvSpPr>
        <p:spPr>
          <a:xfrm>
            <a:off x="777240" y="4544568"/>
            <a:ext cx="31089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工位不变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新 UID 替换旧 UID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旧设备 inactive</a:t>
            </a:r>
          </a:p>
        </p:txBody>
      </p:sp>
      <p:sp>
        <p:nvSpPr>
          <p:cNvPr id="24" name="shape24"/>
          <p:cNvSpPr/>
          <p:nvPr/>
        </p:nvSpPr>
        <p:spPr>
          <a:xfrm>
            <a:off x="4526280" y="4160520"/>
            <a:ext cx="3108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资料恢复</a:t>
            </a:r>
          </a:p>
        </p:txBody>
      </p:sp>
      <p:sp>
        <p:nvSpPr>
          <p:cNvPr id="25" name="shape25"/>
          <p:cNvSpPr/>
          <p:nvPr/>
        </p:nvSpPr>
        <p:spPr>
          <a:xfrm>
            <a:off x="4526280" y="4544568"/>
            <a:ext cx="31089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产品资料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学习线序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打印规则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无需重新学习</a:t>
            </a:r>
          </a:p>
        </p:txBody>
      </p:sp>
      <p:sp>
        <p:nvSpPr>
          <p:cNvPr id="28" name="shape28"/>
          <p:cNvSpPr/>
          <p:nvPr/>
        </p:nvSpPr>
        <p:spPr>
          <a:xfrm>
            <a:off x="8275320" y="4160520"/>
            <a:ext cx="3108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记录连续</a:t>
            </a:r>
          </a:p>
        </p:txBody>
      </p:sp>
      <p:sp>
        <p:nvSpPr>
          <p:cNvPr id="29" name="shape29"/>
          <p:cNvSpPr/>
          <p:nvPr/>
        </p:nvSpPr>
        <p:spPr>
          <a:xfrm>
            <a:off x="8275320" y="4544568"/>
            <a:ext cx="31089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本线先保存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binding_event 后同步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CSV / Profile 下发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测试规划先到本线 AT32 打印主机，再由打印主机分发给各测试机</a:t>
            </a:r>
          </a:p>
        </p:txBody>
      </p:sp>
      <p:sp>
        <p:nvSpPr>
          <p:cNvPr id="4" name="shape4"/>
          <p:cNvSpPr/>
          <p:nvPr/>
        </p:nvSpPr>
        <p:spPr>
          <a:xfrm>
            <a:off x="594360" y="1234440"/>
            <a:ext cx="2011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PC 上位机
CSV 编辑/导入</a:t>
            </a:r>
          </a:p>
        </p:txBody>
      </p:sp>
      <p:cxnSp>
        <p:nvCxnSpPr>
          <p:cNvPr id="5" name="arrow5"/>
          <p:cNvCxnSpPr/>
          <p:nvPr/>
        </p:nvCxnSpPr>
        <p:spPr>
          <a:xfrm>
            <a:off x="2606040" y="1600200"/>
            <a:ext cx="54864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6"/>
          <p:cNvSpPr/>
          <p:nvPr/>
        </p:nvSpPr>
        <p:spPr>
          <a:xfrm>
            <a:off x="3154680" y="1234440"/>
            <a:ext cx="214884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本线 AP
只提供网络</a:t>
            </a:r>
          </a:p>
        </p:txBody>
      </p:sp>
      <p:cxnSp>
        <p:nvCxnSpPr>
          <p:cNvPr id="7" name="arrow7"/>
          <p:cNvCxnSpPr/>
          <p:nvPr/>
        </p:nvCxnSpPr>
        <p:spPr>
          <a:xfrm>
            <a:off x="5303520" y="1600200"/>
            <a:ext cx="54864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8"/>
          <p:cNvSpPr/>
          <p:nvPr/>
        </p:nvSpPr>
        <p:spPr>
          <a:xfrm>
            <a:off x="5852160" y="1051560"/>
            <a:ext cx="251460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92400E"/>
                </a:solidFill>
                <a:latin typeface="Arial"/>
                <a:ea typeface="Microsoft YaHei"/>
              </a:rPr>
              <a:t>AT32 打印主机
校验/保存/生成 CRC</a:t>
            </a:r>
          </a:p>
        </p:txBody>
      </p:sp>
      <p:cxnSp>
        <p:nvCxnSpPr>
          <p:cNvPr id="9" name="arrow9"/>
          <p:cNvCxnSpPr/>
          <p:nvPr/>
        </p:nvCxnSpPr>
        <p:spPr>
          <a:xfrm>
            <a:off x="8366760" y="1600200"/>
            <a:ext cx="5486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10"/>
          <p:cNvSpPr/>
          <p:nvPr/>
        </p:nvSpPr>
        <p:spPr>
          <a:xfrm>
            <a:off x="8915400" y="1234440"/>
            <a:ext cx="224028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ST01-ST10
profile_push</a:t>
            </a:r>
          </a:p>
        </p:txBody>
      </p:sp>
      <p:sp>
        <p:nvSpPr>
          <p:cNvPr id="11" name="shape11"/>
          <p:cNvSpPr/>
          <p:nvPr/>
        </p:nvSpPr>
        <p:spPr>
          <a:xfrm>
            <a:off x="5852160" y="2743200"/>
            <a:ext cx="25146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075985"/>
                </a:solidFill>
                <a:latin typeface="Arial"/>
                <a:ea typeface="Microsoft YaHei"/>
              </a:rPr>
              <a:t>MAS 在线
接收 profile_sync</a:t>
            </a:r>
          </a:p>
        </p:txBody>
      </p:sp>
      <p:cxnSp>
        <p:nvCxnSpPr>
          <p:cNvPr id="12" name="arrow12"/>
          <p:cNvCxnSpPr/>
          <p:nvPr/>
        </p:nvCxnSpPr>
        <p:spPr>
          <a:xfrm>
            <a:off x="7114032" y="2148840"/>
            <a:ext cx="9144" cy="594359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20"/>
          <p:cNvSpPr/>
          <p:nvPr/>
        </p:nvSpPr>
        <p:spPr>
          <a:xfrm>
            <a:off x="777240" y="4069080"/>
            <a:ext cx="3108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CSV 内容</a:t>
            </a:r>
          </a:p>
        </p:txBody>
      </p:sp>
      <p:sp>
        <p:nvSpPr>
          <p:cNvPr id="21" name="shape21"/>
          <p:cNvSpPr/>
          <p:nvPr/>
        </p:nvSpPr>
        <p:spPr>
          <a:xfrm>
            <a:off x="777240" y="4453128"/>
            <a:ext cx="31089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OUT/IN 对应关系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开路/短路/GND/NC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必测标志和版本</a:t>
            </a:r>
          </a:p>
        </p:txBody>
      </p:sp>
      <p:sp>
        <p:nvSpPr>
          <p:cNvPr id="24" name="shape24"/>
          <p:cNvSpPr/>
          <p:nvPr/>
        </p:nvSpPr>
        <p:spPr>
          <a:xfrm>
            <a:off x="4526280" y="4069080"/>
            <a:ext cx="3108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主机校验</a:t>
            </a:r>
          </a:p>
        </p:txBody>
      </p:sp>
      <p:sp>
        <p:nvSpPr>
          <p:cNvPr id="25" name="shape25"/>
          <p:cNvSpPr/>
          <p:nvPr/>
        </p:nvSpPr>
        <p:spPr>
          <a:xfrm>
            <a:off x="4526280" y="4453128"/>
            <a:ext cx="31089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范围检查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重复/冲突检查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profile_rev + crc32</a:t>
            </a:r>
          </a:p>
        </p:txBody>
      </p:sp>
      <p:sp>
        <p:nvSpPr>
          <p:cNvPr id="28" name="shape28"/>
          <p:cNvSpPr/>
          <p:nvPr/>
        </p:nvSpPr>
        <p:spPr>
          <a:xfrm>
            <a:off x="8275320" y="4069080"/>
            <a:ext cx="31089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断网处理</a:t>
            </a:r>
          </a:p>
        </p:txBody>
      </p:sp>
      <p:sp>
        <p:nvSpPr>
          <p:cNvPr id="29" name="shape29"/>
          <p:cNvSpPr/>
          <p:nvPr/>
        </p:nvSpPr>
        <p:spPr>
          <a:xfrm>
            <a:off x="8275320" y="4453128"/>
            <a:ext cx="31089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使用已保存 profile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继续生产打印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恢复后补传 MAS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MQTT / API 数据通道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本线消息先到打印主机；打印主机再同步 MAS</a:t>
            </a:r>
          </a:p>
        </p:txBody>
      </p:sp>
      <p:sp>
        <p:nvSpPr>
          <p:cNvPr id="4" name="shape4"/>
          <p:cNvSpPr/>
          <p:nvPr/>
        </p:nvSpPr>
        <p:spPr>
          <a:xfrm>
            <a:off x="594360" y="1188720"/>
            <a:ext cx="219456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telemetry</a:t>
            </a:r>
          </a:p>
        </p:txBody>
      </p:sp>
      <p:sp>
        <p:nvSpPr>
          <p:cNvPr id="5" name="shape5"/>
          <p:cNvSpPr/>
          <p:nvPr/>
        </p:nvSpPr>
        <p:spPr>
          <a:xfrm>
            <a:off x="2971800" y="1188720"/>
            <a:ext cx="219456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event</a:t>
            </a:r>
          </a:p>
        </p:txBody>
      </p:sp>
      <p:sp>
        <p:nvSpPr>
          <p:cNvPr id="6" name="shape6"/>
          <p:cNvSpPr/>
          <p:nvPr/>
        </p:nvSpPr>
        <p:spPr>
          <a:xfrm>
            <a:off x="5349240" y="1188720"/>
            <a:ext cx="21945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state</a:t>
            </a:r>
          </a:p>
        </p:txBody>
      </p:sp>
      <p:sp>
        <p:nvSpPr>
          <p:cNvPr id="7" name="shape7"/>
          <p:cNvSpPr/>
          <p:nvPr/>
        </p:nvSpPr>
        <p:spPr>
          <a:xfrm>
            <a:off x="7726679" y="1188720"/>
            <a:ext cx="219456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cmd</a:t>
            </a:r>
          </a:p>
        </p:txBody>
      </p:sp>
      <p:sp>
        <p:nvSpPr>
          <p:cNvPr id="8" name="shape8"/>
          <p:cNvSpPr/>
          <p:nvPr/>
        </p:nvSpPr>
        <p:spPr>
          <a:xfrm>
            <a:off x="10104120" y="1188720"/>
            <a:ext cx="1508760" cy="5943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6366F1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Arial"/>
                <a:ea typeface="Microsoft YaHei"/>
              </a:rPr>
              <a:t>ack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94360" y="2148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600" b="1">
                <a:solidFill>
                  <a:srgbClr val="334155"/>
                </a:solidFill>
                <a:latin typeface="Arial"/>
                <a:ea typeface="Microsoft YaHei"/>
              </a:rPr>
              <a:t>Topic: factory/{factory}/workshop/{workshop}/line/{line}/device/{uid}/{suffix}</a:t>
            </a:r>
          </a:p>
        </p:txBody>
      </p:sp>
      <p:sp>
        <p:nvSpPr>
          <p:cNvPr id="20" name="shape20"/>
          <p:cNvSpPr/>
          <p:nvPr/>
        </p:nvSpPr>
        <p:spPr>
          <a:xfrm>
            <a:off x="685800" y="2971800"/>
            <a:ext cx="32918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设备 -&gt; 打印主机</a:t>
            </a:r>
          </a:p>
        </p:txBody>
      </p:sp>
      <p:sp>
        <p:nvSpPr>
          <p:cNvPr id="21" name="shape21"/>
          <p:cNvSpPr/>
          <p:nvPr/>
        </p:nvSpPr>
        <p:spPr>
          <a:xfrm>
            <a:off x="685800" y="3355848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heartbeat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test_result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print_request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alarm</a:t>
            </a:r>
          </a:p>
        </p:txBody>
      </p:sp>
      <p:sp>
        <p:nvSpPr>
          <p:cNvPr id="24" name="shape24"/>
          <p:cNvSpPr/>
          <p:nvPr/>
        </p:nvSpPr>
        <p:spPr>
          <a:xfrm>
            <a:off x="4434840" y="2971800"/>
            <a:ext cx="329184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打印主机 &lt;-&gt; MAS</a:t>
            </a:r>
          </a:p>
        </p:txBody>
      </p:sp>
      <p:sp>
        <p:nvSpPr>
          <p:cNvPr id="25" name="shape25"/>
          <p:cNvSpPr/>
          <p:nvPr/>
        </p:nvSpPr>
        <p:spPr>
          <a:xfrm>
            <a:off x="4434840" y="3355848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缓存同步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profile_sync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summary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history</a:t>
            </a:r>
          </a:p>
        </p:txBody>
      </p:sp>
      <p:sp>
        <p:nvSpPr>
          <p:cNvPr id="28" name="shape28"/>
          <p:cNvSpPr/>
          <p:nvPr/>
        </p:nvSpPr>
        <p:spPr>
          <a:xfrm>
            <a:off x="8183879" y="2971800"/>
            <a:ext cx="32918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API / Dashboard</a:t>
            </a:r>
          </a:p>
        </p:txBody>
      </p:sp>
      <p:sp>
        <p:nvSpPr>
          <p:cNvPr id="29" name="shape29"/>
          <p:cNvSpPr/>
          <p:nvPr/>
        </p:nvSpPr>
        <p:spPr>
          <a:xfrm>
            <a:off x="8183879" y="3355848"/>
            <a:ext cx="329184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历史查询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统计报表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手机 APP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电脑监控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测试机状态机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网络只是上传、同步和打印请求通道，本地测试必须独立运行</a:t>
            </a:r>
          </a:p>
        </p:txBody>
      </p:sp>
      <p:sp>
        <p:nvSpPr>
          <p:cNvPr id="4" name="shape4"/>
          <p:cNvSpPr/>
          <p:nvPr/>
        </p:nvSpPr>
        <p:spPr>
          <a:xfrm>
            <a:off x="548640" y="132588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BOOT</a:t>
            </a:r>
          </a:p>
        </p:txBody>
      </p:sp>
      <p:sp>
        <p:nvSpPr>
          <p:cNvPr id="5" name="shape5"/>
          <p:cNvSpPr/>
          <p:nvPr/>
        </p:nvSpPr>
        <p:spPr>
          <a:xfrm>
            <a:off x="2240280" y="1325880"/>
            <a:ext cx="1783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Arial"/>
                <a:ea typeface="Microsoft YaHei"/>
              </a:rPr>
              <a:t>WIFI_CONNECT</a:t>
            </a:r>
          </a:p>
        </p:txBody>
      </p:sp>
      <p:sp>
        <p:nvSpPr>
          <p:cNvPr id="6" name="shape6"/>
          <p:cNvSpPr/>
          <p:nvPr/>
        </p:nvSpPr>
        <p:spPr>
          <a:xfrm>
            <a:off x="4343400" y="1325880"/>
            <a:ext cx="1691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REGISTER</a:t>
            </a:r>
          </a:p>
        </p:txBody>
      </p:sp>
      <p:sp>
        <p:nvSpPr>
          <p:cNvPr id="7" name="shape7"/>
          <p:cNvSpPr/>
          <p:nvPr/>
        </p:nvSpPr>
        <p:spPr>
          <a:xfrm>
            <a:off x="6355080" y="1325880"/>
            <a:ext cx="1783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Arial"/>
                <a:ea typeface="Microsoft YaHei"/>
              </a:rPr>
              <a:t>SYNC_CONFIG</a:t>
            </a:r>
          </a:p>
        </p:txBody>
      </p:sp>
      <p:sp>
        <p:nvSpPr>
          <p:cNvPr id="8" name="shape8"/>
          <p:cNvSpPr/>
          <p:nvPr/>
        </p:nvSpPr>
        <p:spPr>
          <a:xfrm>
            <a:off x="8458200" y="1325880"/>
            <a:ext cx="141732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READY</a:t>
            </a:r>
          </a:p>
        </p:txBody>
      </p:sp>
      <p:sp>
        <p:nvSpPr>
          <p:cNvPr id="9" name="shape9"/>
          <p:cNvSpPr/>
          <p:nvPr/>
        </p:nvSpPr>
        <p:spPr>
          <a:xfrm>
            <a:off x="10149840" y="1325880"/>
            <a:ext cx="14173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TESTING</a:t>
            </a:r>
          </a:p>
        </p:txBody>
      </p:sp>
      <p:cxnSp>
        <p:nvCxnSpPr>
          <p:cNvPr id="20" name="arrow20"/>
          <p:cNvCxnSpPr/>
          <p:nvPr/>
        </p:nvCxnSpPr>
        <p:spPr>
          <a:xfrm>
            <a:off x="1965960" y="1581912"/>
            <a:ext cx="27432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rrow21"/>
          <p:cNvCxnSpPr/>
          <p:nvPr/>
        </p:nvCxnSpPr>
        <p:spPr>
          <a:xfrm>
            <a:off x="4023360" y="1581912"/>
            <a:ext cx="3200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rrow22"/>
          <p:cNvCxnSpPr/>
          <p:nvPr/>
        </p:nvCxnSpPr>
        <p:spPr>
          <a:xfrm>
            <a:off x="6035040" y="1581912"/>
            <a:ext cx="32004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rrow23"/>
          <p:cNvCxnSpPr/>
          <p:nvPr/>
        </p:nvCxnSpPr>
        <p:spPr>
          <a:xfrm>
            <a:off x="8138160" y="1581912"/>
            <a:ext cx="32003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arrow24"/>
          <p:cNvCxnSpPr/>
          <p:nvPr/>
        </p:nvCxnSpPr>
        <p:spPr>
          <a:xfrm>
            <a:off x="9875520" y="1581912"/>
            <a:ext cx="27431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10"/>
          <p:cNvSpPr/>
          <p:nvPr/>
        </p:nvSpPr>
        <p:spPr>
          <a:xfrm>
            <a:off x="1828800" y="2926080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8BFA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LEARNING</a:t>
            </a:r>
          </a:p>
        </p:txBody>
      </p:sp>
      <p:sp>
        <p:nvSpPr>
          <p:cNvPr id="11" name="shape11"/>
          <p:cNvSpPr/>
          <p:nvPr/>
        </p:nvSpPr>
        <p:spPr>
          <a:xfrm>
            <a:off x="3886200" y="2926080"/>
            <a:ext cx="16459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PASS_READY</a:t>
            </a:r>
          </a:p>
        </p:txBody>
      </p:sp>
      <p:sp>
        <p:nvSpPr>
          <p:cNvPr id="12" name="shape12"/>
          <p:cNvSpPr/>
          <p:nvPr/>
        </p:nvSpPr>
        <p:spPr>
          <a:xfrm>
            <a:off x="5989320" y="2926080"/>
            <a:ext cx="196596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Arial"/>
                <a:ea typeface="Microsoft YaHei"/>
              </a:rPr>
              <a:t>PRINT_REQUESTED</a:t>
            </a:r>
          </a:p>
        </p:txBody>
      </p:sp>
      <p:sp>
        <p:nvSpPr>
          <p:cNvPr id="13" name="shape13"/>
          <p:cNvSpPr/>
          <p:nvPr/>
        </p:nvSpPr>
        <p:spPr>
          <a:xfrm>
            <a:off x="8366760" y="2926080"/>
            <a:ext cx="16459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PRINT_DONE</a:t>
            </a:r>
          </a:p>
        </p:txBody>
      </p:sp>
      <p:cxnSp>
        <p:nvCxnSpPr>
          <p:cNvPr id="25" name="arrow25"/>
          <p:cNvCxnSpPr/>
          <p:nvPr/>
        </p:nvCxnSpPr>
        <p:spPr>
          <a:xfrm flipH="1">
            <a:off x="4709160" y="1828800"/>
            <a:ext cx="6126479" cy="109728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arrow26"/>
          <p:cNvCxnSpPr/>
          <p:nvPr/>
        </p:nvCxnSpPr>
        <p:spPr>
          <a:xfrm>
            <a:off x="5532120" y="3200400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arrow27"/>
          <p:cNvCxnSpPr/>
          <p:nvPr/>
        </p:nvCxnSpPr>
        <p:spPr>
          <a:xfrm>
            <a:off x="7955279" y="3200400"/>
            <a:ext cx="4114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14"/>
          <p:cNvSpPr/>
          <p:nvPr/>
        </p:nvSpPr>
        <p:spPr>
          <a:xfrm>
            <a:off x="914400" y="4617720"/>
            <a:ext cx="2286000" cy="5486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PAIRING</a:t>
            </a:r>
          </a:p>
        </p:txBody>
      </p:sp>
      <p:sp>
        <p:nvSpPr>
          <p:cNvPr id="15" name="shape15"/>
          <p:cNvSpPr/>
          <p:nvPr/>
        </p:nvSpPr>
        <p:spPr>
          <a:xfrm>
            <a:off x="3931920" y="4617720"/>
            <a:ext cx="228600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OFFLINE_CACHE</a:t>
            </a:r>
          </a:p>
        </p:txBody>
      </p:sp>
      <p:sp>
        <p:nvSpPr>
          <p:cNvPr id="16" name="shape16"/>
          <p:cNvSpPr/>
          <p:nvPr/>
        </p:nvSpPr>
        <p:spPr>
          <a:xfrm>
            <a:off x="6949440" y="4617720"/>
            <a:ext cx="228600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ERROR_LOCK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31520" y="574243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zh-CN" sz="1500" b="1">
                <a:solidFill>
                  <a:srgbClr val="334155"/>
                </a:solidFill>
                <a:latin typeface="Arial"/>
                <a:ea typeface="Microsoft YaHei"/>
              </a:rPr>
              <a:t>原则：本地测试不依赖 MAS；测试机连不上打印主机时短缓存，恢复后先补给打印主机。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打印主机状态机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每条线保留一台打印主机，负责本线绑定、队列、打印和缓存</a:t>
            </a:r>
          </a:p>
        </p:txBody>
      </p:sp>
      <p:sp>
        <p:nvSpPr>
          <p:cNvPr id="4" name="shape4"/>
          <p:cNvSpPr/>
          <p:nvPr/>
        </p:nvSpPr>
        <p:spPr>
          <a:xfrm>
            <a:off x="822960" y="1234440"/>
            <a:ext cx="1508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BOOT</a:t>
            </a:r>
          </a:p>
        </p:txBody>
      </p:sp>
      <p:sp>
        <p:nvSpPr>
          <p:cNvPr id="5" name="shape5"/>
          <p:cNvSpPr/>
          <p:nvPr/>
        </p:nvSpPr>
        <p:spPr>
          <a:xfrm>
            <a:off x="2743200" y="12344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REGISTERING</a:t>
            </a:r>
          </a:p>
        </p:txBody>
      </p:sp>
      <p:sp>
        <p:nvSpPr>
          <p:cNvPr id="6" name="shape6"/>
          <p:cNvSpPr/>
          <p:nvPr/>
        </p:nvSpPr>
        <p:spPr>
          <a:xfrm>
            <a:off x="4983480" y="1234440"/>
            <a:ext cx="2057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LOAD_CONFIG</a:t>
            </a:r>
          </a:p>
        </p:txBody>
      </p:sp>
      <p:sp>
        <p:nvSpPr>
          <p:cNvPr id="7" name="shape7"/>
          <p:cNvSpPr/>
          <p:nvPr/>
        </p:nvSpPr>
        <p:spPr>
          <a:xfrm>
            <a:off x="7452360" y="1234440"/>
            <a:ext cx="173736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LINE_READY</a:t>
            </a:r>
          </a:p>
        </p:txBody>
      </p:sp>
      <p:sp>
        <p:nvSpPr>
          <p:cNvPr id="8" name="shape8"/>
          <p:cNvSpPr/>
          <p:nvPr/>
        </p:nvSpPr>
        <p:spPr>
          <a:xfrm>
            <a:off x="9601200" y="1234440"/>
            <a:ext cx="164592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PRINTING</a:t>
            </a:r>
          </a:p>
        </p:txBody>
      </p:sp>
      <p:cxnSp>
        <p:nvCxnSpPr>
          <p:cNvPr id="20" name="arrow20"/>
          <p:cNvCxnSpPr/>
          <p:nvPr/>
        </p:nvCxnSpPr>
        <p:spPr>
          <a:xfrm>
            <a:off x="2331720" y="1508760"/>
            <a:ext cx="4114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rrow21"/>
          <p:cNvCxnSpPr/>
          <p:nvPr/>
        </p:nvCxnSpPr>
        <p:spPr>
          <a:xfrm>
            <a:off x="4572000" y="1508760"/>
            <a:ext cx="4114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rrow22"/>
          <p:cNvCxnSpPr/>
          <p:nvPr/>
        </p:nvCxnSpPr>
        <p:spPr>
          <a:xfrm>
            <a:off x="7040880" y="1508760"/>
            <a:ext cx="41148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rrow23"/>
          <p:cNvCxnSpPr/>
          <p:nvPr/>
        </p:nvCxnSpPr>
        <p:spPr>
          <a:xfrm>
            <a:off x="9189720" y="1508760"/>
            <a:ext cx="41147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hape30"/>
          <p:cNvSpPr/>
          <p:nvPr/>
        </p:nvSpPr>
        <p:spPr>
          <a:xfrm>
            <a:off x="777240" y="2743200"/>
            <a:ext cx="32004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本线主机</a:t>
            </a:r>
          </a:p>
        </p:txBody>
      </p:sp>
      <p:sp>
        <p:nvSpPr>
          <p:cNvPr id="31" name="shape31"/>
          <p:cNvSpPr/>
          <p:nvPr/>
        </p:nvSpPr>
        <p:spPr>
          <a:xfrm>
            <a:off x="777240" y="3127248"/>
            <a:ext cx="3200400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保存 ST01-ST10 绑定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保存当前产品资料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保存标签模板</a:t>
            </a:r>
          </a:p>
        </p:txBody>
      </p:sp>
      <p:sp>
        <p:nvSpPr>
          <p:cNvPr id="34" name="shape34"/>
          <p:cNvSpPr/>
          <p:nvPr/>
        </p:nvSpPr>
        <p:spPr>
          <a:xfrm>
            <a:off x="4480560" y="2743200"/>
            <a:ext cx="3200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打印队列</a:t>
            </a:r>
          </a:p>
        </p:txBody>
      </p:sp>
      <p:sp>
        <p:nvSpPr>
          <p:cNvPr id="35" name="shape35"/>
          <p:cNvSpPr/>
          <p:nvPr/>
        </p:nvSpPr>
        <p:spPr>
          <a:xfrm>
            <a:off x="4480560" y="3127248"/>
            <a:ext cx="3200400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接收 print_request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生成标签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回传 DONE/ERROR</a:t>
            </a:r>
          </a:p>
        </p:txBody>
      </p:sp>
      <p:sp>
        <p:nvSpPr>
          <p:cNvPr id="38" name="shape38"/>
          <p:cNvSpPr/>
          <p:nvPr/>
        </p:nvSpPr>
        <p:spPr>
          <a:xfrm>
            <a:off x="8183879" y="2743200"/>
            <a:ext cx="3200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离线能力</a:t>
            </a:r>
          </a:p>
        </p:txBody>
      </p:sp>
      <p:sp>
        <p:nvSpPr>
          <p:cNvPr id="39" name="shape39"/>
          <p:cNvSpPr/>
          <p:nvPr/>
        </p:nvSpPr>
        <p:spPr>
          <a:xfrm>
            <a:off x="8183879" y="3127248"/>
            <a:ext cx="3200400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MAS 离线仍可打印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本地缓存后补传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数据记录与统计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测试记录、打印记录、报警记录统一入库，后续数据分析从数据库生成</a:t>
            </a:r>
          </a:p>
        </p:txBody>
      </p:sp>
      <p:sp>
        <p:nvSpPr>
          <p:cNvPr id="4" name="shape4"/>
          <p:cNvSpPr/>
          <p:nvPr/>
        </p:nvSpPr>
        <p:spPr>
          <a:xfrm>
            <a:off x="594360" y="118872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主表</a:t>
            </a:r>
          </a:p>
        </p:txBody>
      </p:sp>
      <p:sp>
        <p:nvSpPr>
          <p:cNvPr id="5" name="shape5"/>
          <p:cNvSpPr/>
          <p:nvPr/>
        </p:nvSpPr>
        <p:spPr>
          <a:xfrm>
            <a:off x="594360" y="1572768"/>
            <a:ext cx="27432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devices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line_bindings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products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profiles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test_results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print_jobs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device_events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alarms</a:t>
            </a:r>
          </a:p>
        </p:txBody>
      </p:sp>
      <p:sp>
        <p:nvSpPr>
          <p:cNvPr id="8" name="shape8"/>
          <p:cNvSpPr/>
          <p:nvPr/>
        </p:nvSpPr>
        <p:spPr>
          <a:xfrm>
            <a:off x="3703320" y="1188720"/>
            <a:ext cx="36576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统计输出</a:t>
            </a:r>
          </a:p>
        </p:txBody>
      </p:sp>
      <p:sp>
        <p:nvSpPr>
          <p:cNvPr id="9" name="shape9"/>
          <p:cNvSpPr/>
          <p:nvPr/>
        </p:nvSpPr>
        <p:spPr>
          <a:xfrm>
            <a:off x="3703320" y="1572768"/>
            <a:ext cx="36576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每条线产量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工位 PASS/NG 率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常见故障点 OUT/IN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打印失败率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设备在线率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单件 serial 追溯</a:t>
            </a:r>
          </a:p>
        </p:txBody>
      </p:sp>
      <p:sp>
        <p:nvSpPr>
          <p:cNvPr id="12" name="shape12"/>
          <p:cNvSpPr/>
          <p:nvPr/>
        </p:nvSpPr>
        <p:spPr>
          <a:xfrm>
            <a:off x="7818120" y="1188720"/>
            <a:ext cx="356616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客户端显示</a:t>
            </a:r>
          </a:p>
        </p:txBody>
      </p:sp>
      <p:sp>
        <p:nvSpPr>
          <p:cNvPr id="13" name="shape13"/>
          <p:cNvSpPr/>
          <p:nvPr/>
        </p:nvSpPr>
        <p:spPr>
          <a:xfrm>
            <a:off x="7818120" y="1572768"/>
            <a:ext cx="356616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车间总览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线体状态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单机状态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报警确认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趋势报表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换机辅助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断网缓存与可靠性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MAS 异常不影响本线打印；缓存主要放在 AT32 打印主机</a:t>
            </a:r>
          </a:p>
        </p:txBody>
      </p:sp>
      <p:sp>
        <p:nvSpPr>
          <p:cNvPr id="4" name="shape4"/>
          <p:cNvSpPr/>
          <p:nvPr/>
        </p:nvSpPr>
        <p:spPr>
          <a:xfrm>
            <a:off x="640080" y="1143000"/>
            <a:ext cx="33832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断网场景</a:t>
            </a:r>
          </a:p>
        </p:txBody>
      </p:sp>
      <p:sp>
        <p:nvSpPr>
          <p:cNvPr id="5" name="shape5"/>
          <p:cNvSpPr/>
          <p:nvPr/>
        </p:nvSpPr>
        <p:spPr>
          <a:xfrm>
            <a:off x="640080" y="1527048"/>
            <a:ext cx="33832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测试机到打印主机断开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打印主机到 MAS 断开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MAS 服务器离线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重复上报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时间未同步</a:t>
            </a:r>
          </a:p>
        </p:txBody>
      </p:sp>
      <p:sp>
        <p:nvSpPr>
          <p:cNvPr id="8" name="shape8"/>
          <p:cNvSpPr/>
          <p:nvPr/>
        </p:nvSpPr>
        <p:spPr>
          <a:xfrm>
            <a:off x="4434840" y="1143000"/>
            <a:ext cx="33832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处理策略</a:t>
            </a:r>
          </a:p>
        </p:txBody>
      </p:sp>
      <p:sp>
        <p:nvSpPr>
          <p:cNvPr id="9" name="shape9"/>
          <p:cNvSpPr/>
          <p:nvPr/>
        </p:nvSpPr>
        <p:spPr>
          <a:xfrm>
            <a:off x="4434840" y="1527048"/>
            <a:ext cx="33832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本地继续测试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本线继续打印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打印主机为主缓存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event_id 去重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恢复后补传</a:t>
            </a:r>
          </a:p>
        </p:txBody>
      </p:sp>
      <p:sp>
        <p:nvSpPr>
          <p:cNvPr id="12" name="shape12"/>
          <p:cNvSpPr/>
          <p:nvPr/>
        </p:nvSpPr>
        <p:spPr>
          <a:xfrm>
            <a:off x="8229600" y="1143000"/>
            <a:ext cx="30175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建议容量</a:t>
            </a:r>
          </a:p>
        </p:txBody>
      </p:sp>
      <p:sp>
        <p:nvSpPr>
          <p:cNvPr id="13" name="shape13"/>
          <p:cNvSpPr/>
          <p:nvPr/>
        </p:nvSpPr>
        <p:spPr>
          <a:xfrm>
            <a:off x="8229600" y="1527048"/>
            <a:ext cx="3017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测试机 200-1000 条短缓存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 5000-50000 条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打印机本体不做业务缓存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优先用 eMMC/SD/外部 Flash/FRAM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WiFi 模块边界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第一版按 ESP32-C3-WROOM-02U/02 设计，AT32 保持业务主控</a:t>
            </a:r>
          </a:p>
        </p:txBody>
      </p:sp>
      <p:sp>
        <p:nvSpPr>
          <p:cNvPr id="4" name="shape4"/>
          <p:cNvSpPr/>
          <p:nvPr/>
        </p:nvSpPr>
        <p:spPr>
          <a:xfrm>
            <a:off x="777240" y="1325880"/>
            <a:ext cx="210312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业务层
scan/print/pair</a:t>
            </a:r>
          </a:p>
        </p:txBody>
      </p:sp>
      <p:sp>
        <p:nvSpPr>
          <p:cNvPr id="5" name="shape5"/>
          <p:cNvSpPr/>
          <p:nvPr/>
        </p:nvSpPr>
        <p:spPr>
          <a:xfrm>
            <a:off x="3337560" y="1325880"/>
            <a:ext cx="210312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mas_protocol
JSON/ACK</a:t>
            </a:r>
          </a:p>
        </p:txBody>
      </p:sp>
      <p:sp>
        <p:nvSpPr>
          <p:cNvPr id="6" name="shape6"/>
          <p:cNvSpPr/>
          <p:nvPr/>
        </p:nvSpPr>
        <p:spPr>
          <a:xfrm>
            <a:off x="5897880" y="1325880"/>
            <a:ext cx="210312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Arial"/>
                <a:ea typeface="Microsoft YaHei"/>
              </a:rPr>
              <a:t>net_service
UART 通道</a:t>
            </a:r>
          </a:p>
        </p:txBody>
      </p:sp>
      <p:sp>
        <p:nvSpPr>
          <p:cNvPr id="7" name="shape7"/>
          <p:cNvSpPr/>
          <p:nvPr/>
        </p:nvSpPr>
        <p:spPr>
          <a:xfrm>
            <a:off x="8458200" y="1325880"/>
            <a:ext cx="2560320" cy="6858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ESP32-C3-WROOM
WiFi 协处理器</a:t>
            </a:r>
          </a:p>
        </p:txBody>
      </p:sp>
      <p:cxnSp>
        <p:nvCxnSpPr>
          <p:cNvPr id="8" name="arrow8"/>
          <p:cNvCxnSpPr/>
          <p:nvPr/>
        </p:nvCxnSpPr>
        <p:spPr>
          <a:xfrm>
            <a:off x="2880360" y="1673352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arrow9"/>
          <p:cNvCxnSpPr/>
          <p:nvPr/>
        </p:nvCxnSpPr>
        <p:spPr>
          <a:xfrm>
            <a:off x="5440680" y="1673352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10"/>
          <p:cNvCxnSpPr/>
          <p:nvPr/>
        </p:nvCxnSpPr>
        <p:spPr>
          <a:xfrm>
            <a:off x="8001000" y="1673352"/>
            <a:ext cx="457200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20"/>
          <p:cNvSpPr/>
          <p:nvPr/>
        </p:nvSpPr>
        <p:spPr>
          <a:xfrm>
            <a:off x="822960" y="2880360"/>
            <a:ext cx="29260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第一版优先</a:t>
            </a:r>
          </a:p>
        </p:txBody>
      </p:sp>
      <p:sp>
        <p:nvSpPr>
          <p:cNvPr id="21" name="shape21"/>
          <p:cNvSpPr/>
          <p:nvPr/>
        </p:nvSpPr>
        <p:spPr>
          <a:xfrm>
            <a:off x="822960" y="3264408"/>
            <a:ext cx="2926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打印主机: WROOM-02U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测试机: 02U 或 02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AT32 仍做业务主控</a:t>
            </a:r>
          </a:p>
        </p:txBody>
      </p:sp>
      <p:sp>
        <p:nvSpPr>
          <p:cNvPr id="24" name="shape24"/>
          <p:cNvSpPr/>
          <p:nvPr/>
        </p:nvSpPr>
        <p:spPr>
          <a:xfrm>
            <a:off x="4389120" y="2880360"/>
            <a:ext cx="29260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PCB 风险</a:t>
            </a:r>
          </a:p>
        </p:txBody>
      </p:sp>
      <p:sp>
        <p:nvSpPr>
          <p:cNvPr id="25" name="shape25"/>
          <p:cNvSpPr/>
          <p:nvPr/>
        </p:nvSpPr>
        <p:spPr>
          <a:xfrm>
            <a:off x="4389120" y="3264408"/>
            <a:ext cx="2926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19-25 内部 GND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必须按规格书回流焊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天线区域严格禁布</a:t>
            </a:r>
          </a:p>
        </p:txBody>
      </p:sp>
      <p:sp>
        <p:nvSpPr>
          <p:cNvPr id="28" name="shape28"/>
          <p:cNvSpPr/>
          <p:nvPr/>
        </p:nvSpPr>
        <p:spPr>
          <a:xfrm>
            <a:off x="7955279" y="2880360"/>
            <a:ext cx="29260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维修友好</a:t>
            </a:r>
          </a:p>
        </p:txBody>
      </p:sp>
      <p:sp>
        <p:nvSpPr>
          <p:cNvPr id="29" name="shape29"/>
          <p:cNvSpPr/>
          <p:nvPr/>
        </p:nvSpPr>
        <p:spPr>
          <a:xfrm>
            <a:off x="7955279" y="3264408"/>
            <a:ext cx="2926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可做 WiFi 子板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主板只留 J_WIFI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后续换型不大改板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WiFi PCB 连接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参考 docs/esp32-c3-wroom-02_datasheet_cn.pdf 和 wifi_module_pcb_connection_plan.md</a:t>
            </a:r>
          </a:p>
        </p:txBody>
      </p:sp>
      <p:sp>
        <p:nvSpPr>
          <p:cNvPr id="4" name="shape4"/>
          <p:cNvSpPr/>
          <p:nvPr/>
        </p:nvSpPr>
        <p:spPr>
          <a:xfrm>
            <a:off x="594360" y="114300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Arial"/>
                <a:ea typeface="Microsoft YaHei"/>
              </a:rPr>
              <a:t>AT32 PC3候选
WIFI_TX</a:t>
            </a:r>
          </a:p>
        </p:txBody>
      </p:sp>
      <p:cxnSp>
        <p:nvCxnSpPr>
          <p:cNvPr id="5" name="arrow5"/>
          <p:cNvCxnSpPr/>
          <p:nvPr/>
        </p:nvCxnSpPr>
        <p:spPr>
          <a:xfrm>
            <a:off x="2606040" y="1481328"/>
            <a:ext cx="64007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6"/>
          <p:cNvSpPr/>
          <p:nvPr/>
        </p:nvSpPr>
        <p:spPr>
          <a:xfrm>
            <a:off x="3246120" y="114300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ESP32 Pin11
RXD</a:t>
            </a:r>
          </a:p>
        </p:txBody>
      </p:sp>
      <p:sp>
        <p:nvSpPr>
          <p:cNvPr id="7" name="shape7"/>
          <p:cNvSpPr/>
          <p:nvPr/>
        </p:nvSpPr>
        <p:spPr>
          <a:xfrm>
            <a:off x="594360" y="205740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Arial"/>
                <a:ea typeface="Microsoft YaHei"/>
              </a:rPr>
              <a:t>AT32 PB9候选
WIFI_RX</a:t>
            </a:r>
          </a:p>
        </p:txBody>
      </p:sp>
      <p:cxnSp>
        <p:nvCxnSpPr>
          <p:cNvPr id="8" name="arrow8"/>
          <p:cNvCxnSpPr/>
          <p:nvPr/>
        </p:nvCxnSpPr>
        <p:spPr>
          <a:xfrm flipH="1">
            <a:off x="2606040" y="2395728"/>
            <a:ext cx="640079" cy="9144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9"/>
          <p:cNvSpPr/>
          <p:nvPr/>
        </p:nvSpPr>
        <p:spPr>
          <a:xfrm>
            <a:off x="3246120" y="205740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ESP32 Pin12
TXD</a:t>
            </a:r>
          </a:p>
        </p:txBody>
      </p:sp>
      <p:sp>
        <p:nvSpPr>
          <p:cNvPr id="10" name="shape10"/>
          <p:cNvSpPr/>
          <p:nvPr/>
        </p:nvSpPr>
        <p:spPr>
          <a:xfrm>
            <a:off x="5897880" y="1143000"/>
            <a:ext cx="219456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Arial"/>
                <a:ea typeface="Microsoft YaHei"/>
              </a:rPr>
              <a:t>EN不占AT32
上拉+RESET_TP</a:t>
            </a:r>
          </a:p>
        </p:txBody>
      </p:sp>
      <p:sp>
        <p:nvSpPr>
          <p:cNvPr id="11" name="shape11"/>
          <p:cNvSpPr/>
          <p:nvPr/>
        </p:nvSpPr>
        <p:spPr>
          <a:xfrm>
            <a:off x="8549640" y="1143000"/>
            <a:ext cx="219456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/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Arial"/>
                <a:ea typeface="Microsoft YaHei"/>
              </a:rPr>
              <a:t>BOOT不占AT32
上拉+BOOT_TP</a:t>
            </a:r>
          </a:p>
        </p:txBody>
      </p:sp>
      <p:sp>
        <p:nvSpPr>
          <p:cNvPr id="12" name="shape12"/>
          <p:cNvSpPr/>
          <p:nvPr/>
        </p:nvSpPr>
        <p:spPr>
          <a:xfrm>
            <a:off x="5897880" y="2057400"/>
            <a:ext cx="219456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3V3_WIFI
&gt;=500mA 峰值</a:t>
            </a:r>
          </a:p>
        </p:txBody>
      </p:sp>
      <p:sp>
        <p:nvSpPr>
          <p:cNvPr id="13" name="shape13"/>
          <p:cNvSpPr/>
          <p:nvPr/>
        </p:nvSpPr>
        <p:spPr>
          <a:xfrm>
            <a:off x="8549640" y="2057400"/>
            <a:ext cx="219456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Arial"/>
                <a:ea typeface="Microsoft YaHei"/>
              </a:rPr>
              <a:t>GND 焊盘
含内部 19-25</a:t>
            </a:r>
          </a:p>
        </p:txBody>
      </p:sp>
      <p:sp>
        <p:nvSpPr>
          <p:cNvPr id="20" name="shape20"/>
          <p:cNvSpPr/>
          <p:nvPr/>
        </p:nvSpPr>
        <p:spPr>
          <a:xfrm>
            <a:off x="777240" y="3794760"/>
            <a:ext cx="31089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原理图</a:t>
            </a:r>
          </a:p>
        </p:txBody>
      </p:sp>
      <p:sp>
        <p:nvSpPr>
          <p:cNvPr id="21" name="shape21"/>
          <p:cNvSpPr/>
          <p:nvPr/>
        </p:nvSpPr>
        <p:spPr>
          <a:xfrm>
            <a:off x="777240" y="41788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PC3-&gt;RXD, PB9&lt;-TXD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PA1/PA3/PD8 禁用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EN/BOOT 只留测试点</a:t>
            </a:r>
          </a:p>
        </p:txBody>
      </p:sp>
      <p:sp>
        <p:nvSpPr>
          <p:cNvPr id="24" name="shape24"/>
          <p:cNvSpPr/>
          <p:nvPr/>
        </p:nvSpPr>
        <p:spPr>
          <a:xfrm>
            <a:off x="4526280" y="3794760"/>
            <a:ext cx="31089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电源</a:t>
            </a:r>
          </a:p>
        </p:txBody>
      </p:sp>
      <p:sp>
        <p:nvSpPr>
          <p:cNvPr id="25" name="shape25"/>
          <p:cNvSpPr/>
          <p:nvPr/>
        </p:nvSpPr>
        <p:spPr>
          <a:xfrm>
            <a:off x="4526280" y="41788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模块旁 10uF + 0.1uF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可加 22uF/47uF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WiFi 分支预留磁珠/0R</a:t>
            </a:r>
          </a:p>
        </p:txBody>
      </p:sp>
      <p:sp>
        <p:nvSpPr>
          <p:cNvPr id="28" name="shape28"/>
          <p:cNvSpPr/>
          <p:nvPr/>
        </p:nvSpPr>
        <p:spPr>
          <a:xfrm>
            <a:off x="8275320" y="3794760"/>
            <a:ext cx="31089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布局</a:t>
            </a:r>
          </a:p>
        </p:txBody>
      </p:sp>
      <p:sp>
        <p:nvSpPr>
          <p:cNvPr id="29" name="shape29"/>
          <p:cNvSpPr/>
          <p:nvPr/>
        </p:nvSpPr>
        <p:spPr>
          <a:xfrm>
            <a:off x="8275320" y="41788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02U 外接天线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02 板载天线禁布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优先参考刘氏PDF规格书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2500" b="1">
                <a:solidFill>
                  <a:srgbClr val="0F172A"/>
                </a:solidFill>
                <a:latin typeface="Arial"/>
                <a:ea typeface="Microsoft YaHei"/>
              </a:rPr>
              <a:t>下一步实施计划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438912" y="667512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zh-CN" sz="1000" b="0">
                <a:solidFill>
                  <a:srgbClr val="64748B"/>
                </a:solidFill>
                <a:latin typeface="Arial"/>
                <a:ea typeface="Microsoft YaHei"/>
              </a:rPr>
              <a:t>先做本线 AP + 打印主机闭环，再接 MAS 同步和模块验证</a:t>
            </a:r>
          </a:p>
        </p:txBody>
      </p:sp>
      <p:sp>
        <p:nvSpPr>
          <p:cNvPr id="4" name="shape4"/>
          <p:cNvSpPr/>
          <p:nvPr/>
        </p:nvSpPr>
        <p:spPr>
          <a:xfrm>
            <a:off x="640080" y="1051560"/>
            <a:ext cx="3566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阶段 1: 架构与原型</a:t>
            </a:r>
          </a:p>
        </p:txBody>
      </p:sp>
      <p:sp>
        <p:nvSpPr>
          <p:cNvPr id="5" name="shape5"/>
          <p:cNvSpPr/>
          <p:nvPr/>
        </p:nvSpPr>
        <p:spPr>
          <a:xfrm>
            <a:off x="640080" y="1435607"/>
            <a:ext cx="356616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设备身份和绑定表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MQTT topic / JSON 消息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CSV/Profile 上传流程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WiFi PCB 连接规格</a:t>
            </a:r>
          </a:p>
        </p:txBody>
      </p:sp>
      <p:sp>
        <p:nvSpPr>
          <p:cNvPr id="8" name="shape8"/>
          <p:cNvSpPr/>
          <p:nvPr/>
        </p:nvSpPr>
        <p:spPr>
          <a:xfrm>
            <a:off x="4343400" y="1051560"/>
            <a:ext cx="35661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阶段 2: 固件接入</a:t>
            </a:r>
          </a:p>
        </p:txBody>
      </p:sp>
      <p:sp>
        <p:nvSpPr>
          <p:cNvPr id="9" name="shape9"/>
          <p:cNvSpPr/>
          <p:nvPr/>
        </p:nvSpPr>
        <p:spPr>
          <a:xfrm>
            <a:off x="4343400" y="1435607"/>
            <a:ext cx="356616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net_service 抽象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event_queue 断网缓存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print_request WiFi 后端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pair_req / pair_assign</a:t>
            </a:r>
          </a:p>
        </p:txBody>
      </p:sp>
      <p:sp>
        <p:nvSpPr>
          <p:cNvPr id="12" name="shape12"/>
          <p:cNvSpPr/>
          <p:nvPr/>
        </p:nvSpPr>
        <p:spPr>
          <a:xfrm>
            <a:off x="8046720" y="1051560"/>
            <a:ext cx="35661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Arial"/>
                <a:ea typeface="Microsoft YaHei"/>
              </a:rPr>
              <a:t>阶段 3: 模块验证</a:t>
            </a:r>
          </a:p>
        </p:txBody>
      </p:sp>
      <p:sp>
        <p:nvSpPr>
          <p:cNvPr id="13" name="shape13"/>
          <p:cNvSpPr/>
          <p:nvPr/>
        </p:nvSpPr>
        <p:spPr>
          <a:xfrm>
            <a:off x="8046720" y="1435607"/>
            <a:ext cx="356616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WROOM-02U 直贴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WiFi 子板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天线和距离测试</a:t>
            </a:r>
            <a:br/>
            <a:r>
              <a:rPr lang="zh-CN" sz="1400" b="0">
                <a:solidFill>
                  <a:srgbClr val="111827"/>
                </a:solidFill>
                <a:latin typeface="Arial"/>
                <a:ea typeface="Microsoft YaHei"/>
              </a:rPr>
              <a:t>• 可靠性和干扰测试</a:t>
            </a:r>
          </a:p>
        </p:txBody>
      </p:sp>
      <p:sp>
        <p:nvSpPr>
          <p:cNvPr id="900" name="text900"/>
          <p:cNvSpPr txBox="1"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zh-CN" sz="800" b="0">
                <a:solidFill>
                  <a:srgbClr val="94A3B8"/>
                </a:solidFill>
                <a:latin typeface="Arial"/>
                <a:ea typeface="Microsoft YaHei"/>
              </a:rPr>
              <a:t>IO BOARD WiFi / 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 Board">
  <a:themeElements>
    <a:clrScheme name="IO Board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B2777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IO Board">
      <a:majorFont>
        <a:latin typeface="Arial"/>
        <a:ea typeface="Microsoft YaHei"/>
      </a:majorFont>
      <a:minorFont>
        <a:latin typeface="Arial"/>
        <a:ea typeface="Microsoft YaHei"/>
      </a:minorFont>
    </a:fontScheme>
    <a:fmtScheme name="IO Boar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